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2" r:id="rId2"/>
    <p:sldId id="257" r:id="rId3"/>
    <p:sldId id="903" r:id="rId4"/>
    <p:sldId id="904" r:id="rId5"/>
    <p:sldId id="258" r:id="rId6"/>
    <p:sldId id="905" r:id="rId7"/>
    <p:sldId id="259" r:id="rId8"/>
    <p:sldId id="913" r:id="rId9"/>
    <p:sldId id="906" r:id="rId10"/>
    <p:sldId id="260" r:id="rId11"/>
    <p:sldId id="908" r:id="rId12"/>
    <p:sldId id="910" r:id="rId13"/>
    <p:sldId id="912" r:id="rId14"/>
    <p:sldId id="91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889" autoAdjust="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swanthi Madala" userId="49cd92076faabe43" providerId="LiveId" clId="{5C98A17E-5BA9-4042-BED8-B144F50F83FC}"/>
    <pc:docChg chg="custSel addSld delSld modSld">
      <pc:chgData name="Haswanthi Madala" userId="49cd92076faabe43" providerId="LiveId" clId="{5C98A17E-5BA9-4042-BED8-B144F50F83FC}" dt="2026-09-24T05:44:11.277" v="9" actId="313"/>
      <pc:docMkLst>
        <pc:docMk/>
      </pc:docMkLst>
      <pc:sldChg chg="modSp mod">
        <pc:chgData name="Haswanthi Madala" userId="49cd92076faabe43" providerId="LiveId" clId="{5C98A17E-5BA9-4042-BED8-B144F50F83FC}" dt="2026-09-24T05:44:11.277" v="9" actId="313"/>
        <pc:sldMkLst>
          <pc:docMk/>
          <pc:sldMk cId="1843937772" sldId="257"/>
        </pc:sldMkLst>
        <pc:spChg chg="mod">
          <ac:chgData name="Haswanthi Madala" userId="49cd92076faabe43" providerId="LiveId" clId="{5C98A17E-5BA9-4042-BED8-B144F50F83FC}" dt="2026-09-24T05:44:11.277" v="9" actId="313"/>
          <ac:spMkLst>
            <pc:docMk/>
            <pc:sldMk cId="1843937772" sldId="257"/>
            <ac:spMk id="4" creationId="{711C611F-8CE0-BAAF-CE8F-1D7B994B4A9E}"/>
          </ac:spMkLst>
        </pc:spChg>
      </pc:sldChg>
      <pc:sldChg chg="modSp mod">
        <pc:chgData name="Haswanthi Madala" userId="49cd92076faabe43" providerId="LiveId" clId="{5C98A17E-5BA9-4042-BED8-B144F50F83FC}" dt="2026-09-24T05:43:50.771" v="6" actId="313"/>
        <pc:sldMkLst>
          <pc:docMk/>
          <pc:sldMk cId="1540628756" sldId="912"/>
        </pc:sldMkLst>
        <pc:spChg chg="mod">
          <ac:chgData name="Haswanthi Madala" userId="49cd92076faabe43" providerId="LiveId" clId="{5C98A17E-5BA9-4042-BED8-B144F50F83FC}" dt="2026-09-24T05:43:50.771" v="6" actId="313"/>
          <ac:spMkLst>
            <pc:docMk/>
            <pc:sldMk cId="1540628756" sldId="912"/>
            <ac:spMk id="6" creationId="{E8DADC9A-F9C0-2B6B-385D-C934D1B41F7F}"/>
          </ac:spMkLst>
        </pc:spChg>
      </pc:sldChg>
      <pc:sldChg chg="new del">
        <pc:chgData name="Haswanthi Madala" userId="49cd92076faabe43" providerId="LiveId" clId="{5C98A17E-5BA9-4042-BED8-B144F50F83FC}" dt="2026-09-24T05:08:01.759" v="1" actId="47"/>
        <pc:sldMkLst>
          <pc:docMk/>
          <pc:sldMk cId="182800366" sldId="91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9044B-B5AF-477C-950C-4ED51263438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1010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83CF1-5653-8CDA-C69A-178FD3309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D68A2B-B3FD-AC66-E25C-D01652BBDE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8F1FF2-5674-530C-1DC4-FF4A5132EA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C34BD9-E976-95D1-96F7-FA8ABB425A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9044B-B5AF-477C-950C-4ED51263438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7708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10AA4-A60B-EFAA-696D-314CADE90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0A62B3-0355-89BE-02CB-62354617DF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ACB737-2638-9151-4C22-95E23B4531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9AE0B9-88FF-DCC5-FF47-EF93DE5907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9044B-B5AF-477C-950C-4ED51263438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070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3034905"/>
            <a:ext cx="6200774" cy="61555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8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16th September, 2026 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5511272"/>
              </p:ext>
            </p:extLst>
          </p:nvPr>
        </p:nvGraphicFramePr>
        <p:xfrm>
          <a:off x="8193271" y="4898509"/>
          <a:ext cx="3702050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6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Kunchala</a:t>
                      </a:r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Naga Chaitanya Sphoorthy-2420030510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Kolapally</a:t>
                      </a:r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Vasavi- 242003078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M. Haswanthi-2420030143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0902847"/>
              </p:ext>
            </p:extLst>
          </p:nvPr>
        </p:nvGraphicFramePr>
        <p:xfrm>
          <a:off x="-795813" y="4774125"/>
          <a:ext cx="5902325" cy="13321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Mrs. </a:t>
                      </a: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Bonagani</a:t>
                      </a: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Prathusha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10625" y="6329436"/>
            <a:ext cx="2743200" cy="365125"/>
          </a:xfrm>
        </p:spPr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800" dirty="0">
                <a:solidFill>
                  <a:schemeClr val="bg1"/>
                </a:solidFill>
              </a:rPr>
              <a:t>“HealthScope” – A Full-Lifecycle Public Health Analytics &amp; Risk Dashboard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(24AD3107) Project Review-2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1C611F-8CE0-BAAF-CE8F-1D7B994B4A9E}"/>
              </a:ext>
            </a:extLst>
          </p:cNvPr>
          <p:cNvSpPr txBox="1"/>
          <p:nvPr/>
        </p:nvSpPr>
        <p:spPr>
          <a:xfrm>
            <a:off x="919211" y="1904602"/>
            <a:ext cx="1064303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000" dirty="0"/>
              <a:t>E-commerce businesses generate large amounts of transaction data.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000" dirty="0"/>
              <a:t>Raw data is difficult to understand and analyse directly.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000" dirty="0"/>
              <a:t>Businesses need insights into sales and customer behaviour.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000" dirty="0"/>
              <a:t>Product performance and country-wise sales need to be analysed.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000" dirty="0"/>
              <a:t>Businesses also need to understand future revenue trends.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000" dirty="0"/>
              <a:t>An integrated analytics solution is needed for better business decision-making.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79FF30-D480-B767-4A3A-9D550C7F3808}"/>
              </a:ext>
            </a:extLst>
          </p:cNvPr>
          <p:cNvSpPr txBox="1"/>
          <p:nvPr/>
        </p:nvSpPr>
        <p:spPr>
          <a:xfrm>
            <a:off x="769660" y="2305615"/>
            <a:ext cx="1017570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000" dirty="0"/>
              <a:t>To clean and preprocess e-commerce transaction data.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000" dirty="0"/>
              <a:t>To </a:t>
            </a:r>
            <a:r>
              <a:rPr lang="en-IN" sz="2000" dirty="0" err="1"/>
              <a:t>analyze</a:t>
            </a:r>
            <a:r>
              <a:rPr lang="en-IN" sz="2000" dirty="0"/>
              <a:t> sales, customer, product, and country-wise performance.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000" dirty="0"/>
              <a:t>To perform RFM analysis for understanding customer </a:t>
            </a:r>
            <a:r>
              <a:rPr lang="en-IN" sz="2000" dirty="0" err="1"/>
              <a:t>behavior</a:t>
            </a:r>
            <a:r>
              <a:rPr lang="en-IN" sz="2000" dirty="0"/>
              <a:t>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000" dirty="0"/>
              <a:t>To segment customers into meaningful groups.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000" dirty="0"/>
              <a:t>To forecast future revenue using historical sales patterns.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000" dirty="0"/>
              <a:t>To develop an interactive </a:t>
            </a:r>
            <a:r>
              <a:rPr lang="en-IN" sz="2000" dirty="0" err="1"/>
              <a:t>Streamlit</a:t>
            </a:r>
            <a:r>
              <a:rPr lang="en-IN" sz="2000" dirty="0"/>
              <a:t> dashboard for visualizing insights.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B305F-CBEC-B6BA-E15F-73A31DCCC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140825E-6B31-CB49-7012-F16D96B42986}"/>
              </a:ext>
            </a:extLst>
          </p:cNvPr>
          <p:cNvSpPr txBox="1"/>
          <p:nvPr/>
        </p:nvSpPr>
        <p:spPr>
          <a:xfrm>
            <a:off x="3048000" y="13228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PROJECT DESIGN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C682F2-477E-6C05-8B51-5BB651768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B9AC06D-669D-2C97-CB73-981E11683F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16" t="9273" r="19757" b="6115"/>
          <a:stretch>
            <a:fillRect/>
          </a:stretch>
        </p:blipFill>
        <p:spPr>
          <a:xfrm>
            <a:off x="2593848" y="896112"/>
            <a:ext cx="6208776" cy="544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636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METHODOLOGY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DA583E5-1570-2937-1929-9F4CD2731014}"/>
              </a:ext>
            </a:extLst>
          </p:cNvPr>
          <p:cNvSpPr txBox="1"/>
          <p:nvPr/>
        </p:nvSpPr>
        <p:spPr>
          <a:xfrm>
            <a:off x="804672" y="1380521"/>
            <a:ext cx="11387328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1. Data Collection</a:t>
            </a:r>
            <a:endParaRPr lang="en-IN" dirty="0"/>
          </a:p>
          <a:p>
            <a:pPr lvl="0"/>
            <a:r>
              <a:rPr lang="en-IN" dirty="0"/>
              <a:t>Collect the </a:t>
            </a:r>
            <a:r>
              <a:rPr lang="en-IN" b="1" dirty="0"/>
              <a:t>Online Retail dataset</a:t>
            </a:r>
            <a:r>
              <a:rPr lang="en-IN" dirty="0"/>
              <a:t> from UCI Machine Learning Repository. </a:t>
            </a:r>
          </a:p>
          <a:p>
            <a:pPr lvl="0"/>
            <a:r>
              <a:rPr lang="en-IN" dirty="0"/>
              <a:t>Understand transaction, product, customer, date, price, and country fields. </a:t>
            </a:r>
          </a:p>
          <a:p>
            <a:r>
              <a:rPr lang="en-IN" b="1" dirty="0"/>
              <a:t>2. Data Preprocessing</a:t>
            </a:r>
            <a:endParaRPr lang="en-IN" dirty="0"/>
          </a:p>
          <a:p>
            <a:pPr lvl="0"/>
            <a:r>
              <a:rPr lang="en-IN" dirty="0"/>
              <a:t>Handle missing values. </a:t>
            </a:r>
          </a:p>
          <a:p>
            <a:pPr lvl="0"/>
            <a:r>
              <a:rPr lang="en-IN" dirty="0"/>
              <a:t>Remove duplicate records. </a:t>
            </a:r>
          </a:p>
          <a:p>
            <a:pPr lvl="0"/>
            <a:r>
              <a:rPr lang="en-IN" dirty="0"/>
              <a:t>Identify and handle returned/cancelled transactions. </a:t>
            </a:r>
          </a:p>
          <a:p>
            <a:pPr lvl="0"/>
            <a:r>
              <a:rPr lang="en-IN" dirty="0"/>
              <a:t>Remove invalid or non-positive prices. </a:t>
            </a:r>
          </a:p>
          <a:p>
            <a:pPr lvl="0"/>
            <a:r>
              <a:rPr lang="en-IN" dirty="0"/>
              <a:t>Convert </a:t>
            </a:r>
            <a:r>
              <a:rPr lang="en-IN" sz="1600" dirty="0" err="1"/>
              <a:t>InvoiceDate</a:t>
            </a:r>
            <a:r>
              <a:rPr lang="en-IN" dirty="0"/>
              <a:t> into proper date-time format. </a:t>
            </a:r>
          </a:p>
          <a:p>
            <a:r>
              <a:rPr lang="en-IN" b="1" dirty="0"/>
              <a:t>3. Feature Engineering</a:t>
            </a:r>
            <a:endParaRPr lang="en-IN" dirty="0"/>
          </a:p>
          <a:p>
            <a:pPr lvl="0"/>
            <a:r>
              <a:rPr lang="en-IN" dirty="0"/>
              <a:t>Create </a:t>
            </a:r>
            <a:r>
              <a:rPr lang="en-IN" b="1" dirty="0"/>
              <a:t>Revenue = Quantity × </a:t>
            </a:r>
            <a:r>
              <a:rPr lang="en-IN" b="1" dirty="0" err="1"/>
              <a:t>UnitPrice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Extract Year, Month, Day, and Hour from </a:t>
            </a:r>
            <a:r>
              <a:rPr lang="en-IN" dirty="0" err="1"/>
              <a:t>InvoiceDate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Prepare customer-level and monthly-level data for further analysis. </a:t>
            </a:r>
          </a:p>
          <a:p>
            <a:r>
              <a:rPr lang="en-IN" b="1" dirty="0"/>
              <a:t>4. Exploratory Data Analysis</a:t>
            </a:r>
            <a:endParaRPr lang="en-IN" dirty="0"/>
          </a:p>
          <a:p>
            <a:pPr lvl="0"/>
            <a:r>
              <a:rPr lang="en-IN" dirty="0" err="1"/>
              <a:t>Analyze</a:t>
            </a:r>
            <a:r>
              <a:rPr lang="en-IN" dirty="0"/>
              <a:t> overall sales and revenue trends. </a:t>
            </a:r>
          </a:p>
          <a:p>
            <a:pPr lvl="0"/>
            <a:r>
              <a:rPr lang="en-IN" dirty="0"/>
              <a:t>Identify top-performing products. </a:t>
            </a:r>
          </a:p>
          <a:p>
            <a:pPr lvl="0"/>
            <a:r>
              <a:rPr lang="en-IN" dirty="0" err="1"/>
              <a:t>Analyze</a:t>
            </a:r>
            <a:r>
              <a:rPr lang="en-IN" dirty="0"/>
              <a:t> country-wise sales performance. </a:t>
            </a:r>
          </a:p>
          <a:p>
            <a:pPr lvl="0"/>
            <a:r>
              <a:rPr lang="en-IN" dirty="0"/>
              <a:t>Study customer purchasing </a:t>
            </a:r>
            <a:r>
              <a:rPr lang="en-IN" dirty="0" err="1"/>
              <a:t>behavior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91C9F-EC3C-F45B-6774-7020F03E7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013E635-9DDF-C0D0-DF0B-5D9A8D1323D3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METHODOLOGY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896160-C1C0-6259-1801-487E026C3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9E9DACC-5123-308C-15D2-E9241B7184F3}"/>
              </a:ext>
            </a:extLst>
          </p:cNvPr>
          <p:cNvSpPr txBox="1"/>
          <p:nvPr/>
        </p:nvSpPr>
        <p:spPr>
          <a:xfrm>
            <a:off x="804672" y="1382286"/>
            <a:ext cx="11387328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5. RFM Analysis</a:t>
            </a:r>
            <a:endParaRPr lang="en-IN" sz="1600" dirty="0"/>
          </a:p>
          <a:p>
            <a:pPr lvl="0"/>
            <a:r>
              <a:rPr lang="en-IN" sz="1600" dirty="0"/>
              <a:t>Calculate: </a:t>
            </a:r>
          </a:p>
          <a:p>
            <a:pPr lvl="1"/>
            <a:r>
              <a:rPr lang="en-IN" sz="1600" b="1" dirty="0"/>
              <a:t>Recency</a:t>
            </a:r>
            <a:r>
              <a:rPr lang="en-IN" sz="1600" dirty="0"/>
              <a:t> – how recently a customer purchased. </a:t>
            </a:r>
          </a:p>
          <a:p>
            <a:pPr lvl="1"/>
            <a:r>
              <a:rPr lang="en-IN" sz="1600" b="1" dirty="0"/>
              <a:t>Frequency</a:t>
            </a:r>
            <a:r>
              <a:rPr lang="en-IN" sz="1600" dirty="0"/>
              <a:t> – how often a customer purchased. </a:t>
            </a:r>
          </a:p>
          <a:p>
            <a:pPr lvl="1"/>
            <a:r>
              <a:rPr lang="en-IN" sz="1600" b="1" dirty="0"/>
              <a:t>Monetary</a:t>
            </a:r>
            <a:r>
              <a:rPr lang="en-IN" sz="1600" dirty="0"/>
              <a:t> – how much a customer spent. </a:t>
            </a:r>
          </a:p>
          <a:p>
            <a:r>
              <a:rPr lang="en-IN" sz="1600" b="1" dirty="0"/>
              <a:t>6. Customer Segmentation</a:t>
            </a:r>
            <a:endParaRPr lang="en-IN" sz="1600" dirty="0"/>
          </a:p>
          <a:p>
            <a:pPr lvl="0"/>
            <a:r>
              <a:rPr lang="en-IN" sz="1600" dirty="0"/>
              <a:t>Use RFM values to classify customers into: </a:t>
            </a:r>
          </a:p>
          <a:p>
            <a:pPr lvl="1"/>
            <a:r>
              <a:rPr lang="en-IN" sz="1600" dirty="0"/>
              <a:t>Champions </a:t>
            </a:r>
          </a:p>
          <a:p>
            <a:pPr lvl="1"/>
            <a:r>
              <a:rPr lang="en-IN" sz="1600" dirty="0"/>
              <a:t>Loyal Customers </a:t>
            </a:r>
          </a:p>
          <a:p>
            <a:pPr lvl="1"/>
            <a:r>
              <a:rPr lang="en-IN" sz="1600" dirty="0"/>
              <a:t>New Customers </a:t>
            </a:r>
          </a:p>
          <a:p>
            <a:pPr lvl="1"/>
            <a:r>
              <a:rPr lang="en-IN" sz="1600" dirty="0"/>
              <a:t>Regular Customers </a:t>
            </a:r>
          </a:p>
          <a:p>
            <a:pPr lvl="1"/>
            <a:r>
              <a:rPr lang="en-IN" sz="1600" dirty="0"/>
              <a:t>At Risk </a:t>
            </a:r>
          </a:p>
          <a:p>
            <a:pPr lvl="1"/>
            <a:r>
              <a:rPr lang="en-IN" sz="1600" dirty="0"/>
              <a:t>Lost Customers </a:t>
            </a:r>
          </a:p>
          <a:p>
            <a:r>
              <a:rPr lang="en-IN" sz="1600" b="1" dirty="0"/>
              <a:t>7. Revenue Forecasting</a:t>
            </a:r>
            <a:endParaRPr lang="en-IN" sz="1600" dirty="0"/>
          </a:p>
          <a:p>
            <a:pPr lvl="0"/>
            <a:r>
              <a:rPr lang="en-IN" sz="1600" dirty="0"/>
              <a:t>Aggregate historical revenue month-wise. </a:t>
            </a:r>
          </a:p>
          <a:p>
            <a:pPr lvl="0"/>
            <a:r>
              <a:rPr lang="en-IN" sz="1600" dirty="0" err="1"/>
              <a:t>Analyze</a:t>
            </a:r>
            <a:r>
              <a:rPr lang="en-IN" sz="1600" dirty="0"/>
              <a:t> historical monthly revenue patterns. </a:t>
            </a:r>
          </a:p>
          <a:p>
            <a:pPr lvl="0"/>
            <a:r>
              <a:rPr lang="en-IN" sz="1600" dirty="0"/>
              <a:t>Generate future monthly revenue estimates. </a:t>
            </a:r>
          </a:p>
          <a:p>
            <a:r>
              <a:rPr lang="en-IN" sz="1600" b="1" dirty="0"/>
              <a:t>8. Dashboard Development</a:t>
            </a:r>
            <a:endParaRPr lang="en-IN" sz="1600" dirty="0"/>
          </a:p>
          <a:p>
            <a:pPr lvl="0"/>
            <a:r>
              <a:rPr lang="en-IN" sz="1600" dirty="0"/>
              <a:t>Integrate all processed results into </a:t>
            </a:r>
            <a:r>
              <a:rPr lang="en-IN" sz="1600" b="1" dirty="0" err="1"/>
              <a:t>Streamlit</a:t>
            </a:r>
            <a:r>
              <a:rPr lang="en-IN" sz="1600" dirty="0"/>
              <a:t>. </a:t>
            </a:r>
          </a:p>
          <a:p>
            <a:pPr lvl="0"/>
            <a:r>
              <a:rPr lang="en-IN" sz="1600" dirty="0"/>
              <a:t>Display KPIs, sales trends, product/country performance, customer segments, and revenue forecasts.</a:t>
            </a:r>
          </a:p>
        </p:txBody>
      </p:sp>
    </p:spTree>
    <p:extLst>
      <p:ext uri="{BB962C8B-B14F-4D97-AF65-F5344CB8AC3E}">
        <p14:creationId xmlns:p14="http://schemas.microsoft.com/office/powerpoint/2010/main" val="343295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MACHINE LEARNING APPROACH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6C664A7-C954-DE2B-DB45-4984420502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002993"/>
              </p:ext>
            </p:extLst>
          </p:nvPr>
        </p:nvGraphicFramePr>
        <p:xfrm>
          <a:off x="838199" y="1214104"/>
          <a:ext cx="10515600" cy="256032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03301494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6847369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Model / Technique</a:t>
                      </a:r>
                      <a:endParaRPr lang="en-IN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Purpose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5352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RFM Analysis</a:t>
                      </a:r>
                      <a:endParaRPr lang="en-IN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Measures </a:t>
                      </a:r>
                      <a:r>
                        <a:rPr lang="en-IN" b="1" dirty="0"/>
                        <a:t>Recency, Frequency, and Monetary value</a:t>
                      </a:r>
                      <a:r>
                        <a:rPr lang="en-IN" dirty="0"/>
                        <a:t> to understand customer purchasing </a:t>
                      </a:r>
                      <a:r>
                        <a:rPr lang="en-IN" dirty="0" err="1"/>
                        <a:t>behavior</a:t>
                      </a:r>
                      <a:r>
                        <a:rPr lang="en-IN" dirty="0"/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22533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Customer Segmentation</a:t>
                      </a:r>
                      <a:endParaRPr lang="en-IN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Groups customers into meaningful segments based on their RFM behavior.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55175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Revenue Forecasting</a:t>
                      </a:r>
                      <a:endParaRPr lang="en-IN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Uses historical monthly revenue patterns to estimate </a:t>
                      </a:r>
                      <a:r>
                        <a:rPr lang="en-IN" b="1" dirty="0"/>
                        <a:t>future monthly revenue</a:t>
                      </a:r>
                      <a:r>
                        <a:rPr lang="en-IN" dirty="0"/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32630012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3E1456F-BDD9-D23E-91AD-51879C7244B5}"/>
              </a:ext>
            </a:extLst>
          </p:cNvPr>
          <p:cNvSpPr txBox="1"/>
          <p:nvPr/>
        </p:nvSpPr>
        <p:spPr>
          <a:xfrm>
            <a:off x="838199" y="3774424"/>
            <a:ext cx="1013460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Model / Forecast Evaluation</a:t>
            </a:r>
          </a:p>
          <a:p>
            <a:r>
              <a:rPr lang="en-IN" dirty="0"/>
              <a:t>The analytical outputs will be evaluated using:</a:t>
            </a:r>
          </a:p>
          <a:p>
            <a:pPr lvl="0"/>
            <a:r>
              <a:rPr lang="en-IN" dirty="0"/>
              <a:t>Customer segment distribution and RFM </a:t>
            </a:r>
            <a:r>
              <a:rPr lang="en-IN" dirty="0" err="1"/>
              <a:t>behavior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Historical monthly revenue patterns </a:t>
            </a:r>
          </a:p>
          <a:p>
            <a:pPr lvl="0"/>
            <a:r>
              <a:rPr lang="en-IN" dirty="0"/>
              <a:t>Comparison of forecasted revenue with historical trends </a:t>
            </a:r>
          </a:p>
          <a:p>
            <a:pPr lvl="0"/>
            <a:r>
              <a:rPr lang="en-IN" dirty="0"/>
              <a:t>Business interpretability of customer and revenue insights </a:t>
            </a:r>
          </a:p>
          <a:p>
            <a:r>
              <a:rPr lang="en-IN" b="1" dirty="0"/>
              <a:t>Output</a:t>
            </a:r>
          </a:p>
          <a:p>
            <a:r>
              <a:rPr lang="en-IN" b="1" dirty="0"/>
              <a:t>Customer Segments + Revenue Forecast → </a:t>
            </a:r>
            <a:r>
              <a:rPr lang="en-IN" b="1" dirty="0" err="1"/>
              <a:t>Streamlit</a:t>
            </a:r>
            <a:r>
              <a:rPr lang="en-IN" b="1" dirty="0"/>
              <a:t> Dashboard → Business Insights</a:t>
            </a:r>
            <a:endParaRPr lang="en-IN" dirty="0"/>
          </a:p>
          <a:p>
            <a:r>
              <a:rPr lang="en-IN" dirty="0"/>
              <a:t>This wording matches the </a:t>
            </a:r>
            <a:r>
              <a:rPr lang="en-IN" b="1" dirty="0"/>
              <a:t>structure and level of detail of the reference slide</a:t>
            </a:r>
            <a:r>
              <a:rPr lang="en-IN" dirty="0"/>
              <a:t>, while using only the techniques actually relevant to your </a:t>
            </a:r>
            <a:r>
              <a:rPr lang="en-IN" dirty="0" err="1"/>
              <a:t>RetailIQ</a:t>
            </a:r>
            <a:r>
              <a:rPr lang="en-IN" dirty="0"/>
              <a:t> project.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7644E-41C7-FCCF-06A4-C1564C422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33196A6-BDA4-BE76-A4D1-EEAA1E2AAB13}"/>
              </a:ext>
            </a:extLst>
          </p:cNvPr>
          <p:cNvSpPr txBox="1"/>
          <p:nvPr/>
        </p:nvSpPr>
        <p:spPr>
          <a:xfrm>
            <a:off x="2867141" y="622549"/>
            <a:ext cx="59596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DASHBOARD DESIGN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AD1134-656B-5C2D-80E2-B4A7A88CB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4718" y="181172"/>
            <a:ext cx="1377282" cy="4413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0CC322B-5CCA-B7E3-BF0C-E674F92FEA65}"/>
              </a:ext>
            </a:extLst>
          </p:cNvPr>
          <p:cNvSpPr txBox="1"/>
          <p:nvPr/>
        </p:nvSpPr>
        <p:spPr>
          <a:xfrm>
            <a:off x="838200" y="1268880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Dashboard Components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9218FA0-C6D2-EF1B-DFAC-EEFE87C68138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035334"/>
          <a:ext cx="10515600" cy="3931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12350388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679971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4121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KPI Cards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Display Total Revenue, Total Orders, Total Customers and Total Products.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36825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Sales Trend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Shows monthly revenue and sales performance over time.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51560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Product 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Identifies top-performing products based on sales/revenue.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9782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Country 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Displays country-wise sales performance.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35269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Customer Segmentation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Visualizes RFM-based customer segments such as Champions, Loyal, New, Regular, At Risk and Lost.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7429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Revenue Forecast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Displays estimated future monthly revenue based on historical sales patterns.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61216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6657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82777-BB88-D0E3-4EFF-27C14E88D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90C2EE4-15A7-1D42-B2C6-7B9C303636CB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TECHNICAL STACK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18665B-7B8F-6695-87BD-784E96E937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EDCAD77-D557-3DB6-2AAB-CB844D68E8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730293"/>
              </p:ext>
            </p:extLst>
          </p:nvPr>
        </p:nvGraphicFramePr>
        <p:xfrm>
          <a:off x="838200" y="1965960"/>
          <a:ext cx="10515600" cy="292608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33733249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1565759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Area</a:t>
                      </a:r>
                      <a:endParaRPr lang="en-IN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Technology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73288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Programming Language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Python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8913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Processing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Pandas, NumPy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938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Visualization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Matplotlib, Seaborn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72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Machine Learning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Scikit-learn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93239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Dashboard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Streamlit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7047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Development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VS Code, Jupyter Notebook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4302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Version Control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Git / GitHub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20501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2722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/>
              <a:t>PROBLEM GAP</a:t>
            </a:r>
            <a:endParaRPr lang="en-US" sz="3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36CC7E7-5CA1-5FE1-7A80-B730BD6292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8393807"/>
              </p:ext>
            </p:extLst>
          </p:nvPr>
        </p:nvGraphicFramePr>
        <p:xfrm>
          <a:off x="1599017" y="1405001"/>
          <a:ext cx="9266739" cy="4384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88913">
                  <a:extLst>
                    <a:ext uri="{9D8B030D-6E8A-4147-A177-3AD203B41FA5}">
                      <a16:colId xmlns:a16="http://schemas.microsoft.com/office/drawing/2014/main" val="3570229267"/>
                    </a:ext>
                  </a:extLst>
                </a:gridCol>
                <a:gridCol w="3088913">
                  <a:extLst>
                    <a:ext uri="{9D8B030D-6E8A-4147-A177-3AD203B41FA5}">
                      <a16:colId xmlns:a16="http://schemas.microsoft.com/office/drawing/2014/main" val="3315478451"/>
                    </a:ext>
                  </a:extLst>
                </a:gridCol>
                <a:gridCol w="3088913">
                  <a:extLst>
                    <a:ext uri="{9D8B030D-6E8A-4147-A177-3AD203B41FA5}">
                      <a16:colId xmlns:a16="http://schemas.microsoft.com/office/drawing/2014/main" val="449981736"/>
                    </a:ext>
                  </a:extLst>
                </a:gridCol>
              </a:tblGrid>
              <a:tr h="322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Existing Approach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Identified Gap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 err="1">
                          <a:solidFill>
                            <a:schemeClr val="tx1"/>
                          </a:solidFill>
                        </a:rPr>
                        <a:t>RetailIQ</a:t>
                      </a:r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 Solution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1172982316"/>
                  </a:ext>
                </a:extLst>
              </a:tr>
              <a:tr h="805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Sales data is </a:t>
                      </a:r>
                      <a:r>
                        <a:rPr lang="en-IN" sz="1600" dirty="0" err="1">
                          <a:solidFill>
                            <a:schemeClr val="tx1"/>
                          </a:solidFill>
                        </a:rPr>
                        <a:t>analyzed</a:t>
                      </a:r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 separately.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Lack of an integrated analysis of sales, products, customers, and countries.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chemeClr val="tx1"/>
                          </a:solidFill>
                        </a:rPr>
                        <a:t>Provides a combined e-commerce analytics solution.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1359670623"/>
                  </a:ext>
                </a:extLst>
              </a:tr>
              <a:tr h="805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chemeClr val="tx1"/>
                          </a:solidFill>
                        </a:rPr>
                        <a:t>RFM is used for customer segmentation.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chemeClr val="tx1"/>
                          </a:solidFill>
                        </a:rPr>
                        <a:t>Customer segmentation is often treated separately from sales analysis and forecasting.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chemeClr val="tx1"/>
                          </a:solidFill>
                        </a:rPr>
                        <a:t>Integrates RFM-based segmentation with overall business analytics.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3069488624"/>
                  </a:ext>
                </a:extLst>
              </a:tr>
              <a:tr h="805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chemeClr val="tx1"/>
                          </a:solidFill>
                        </a:rPr>
                        <a:t>Sales forecasting is performed using historical data.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chemeClr val="tx1"/>
                          </a:solidFill>
                        </a:rPr>
                        <a:t>Forecasting results are not always presented together with customer and sales insights.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chemeClr val="tx1"/>
                          </a:solidFill>
                        </a:rPr>
                        <a:t>Combines revenue forecasting with other analytics in one dashboard.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2958810212"/>
                  </a:ext>
                </a:extLst>
              </a:tr>
              <a:tr h="805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Business dashboards mainly focus on visualization.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chemeClr val="tx1"/>
                          </a:solidFill>
                        </a:rPr>
                        <a:t>Limited integration of customer segmentation and predictive insights.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chemeClr val="tx1"/>
                          </a:solidFill>
                        </a:rPr>
                        <a:t>Provides an interactive Streamlit dashboard with segmentation and forecasting.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1039721999"/>
                  </a:ext>
                </a:extLst>
              </a:tr>
              <a:tr h="805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chemeClr val="tx1"/>
                          </a:solidFill>
                        </a:rPr>
                        <a:t>Data analysis may require separate tools or processes.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chemeClr val="tx1"/>
                          </a:solidFill>
                        </a:rPr>
                        <a:t>Difficult for users to view all important insights in one place.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Presents KPIs, trends, customer segments, product insights, and forecasts in one platform.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8732720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20E9F-A52B-5116-DE10-9DFD834BA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19ECEC-CCB8-34E1-28BA-A4FCB109CF1C}"/>
              </a:ext>
            </a:extLst>
          </p:cNvPr>
          <p:cNvSpPr txBox="1"/>
          <p:nvPr/>
        </p:nvSpPr>
        <p:spPr>
          <a:xfrm>
            <a:off x="1672003" y="429768"/>
            <a:ext cx="88091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/>
              <a:t>INNOVATION, CREATIVITY &amp; NOVELTY</a:t>
            </a:r>
            <a:endParaRPr lang="en-US" sz="3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A30B00-29E5-A13B-770D-2A16C60A9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217B7F-1C13-2329-DA4A-D747E2CB3E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4509" y="0"/>
            <a:ext cx="1942620" cy="622550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0088E87-9A1E-88F7-39C0-C40EF9B059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3424789"/>
              </p:ext>
            </p:extLst>
          </p:nvPr>
        </p:nvGraphicFramePr>
        <p:xfrm>
          <a:off x="1546874" y="1389620"/>
          <a:ext cx="9098252" cy="44552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49126">
                  <a:extLst>
                    <a:ext uri="{9D8B030D-6E8A-4147-A177-3AD203B41FA5}">
                      <a16:colId xmlns:a16="http://schemas.microsoft.com/office/drawing/2014/main" val="2256278893"/>
                    </a:ext>
                  </a:extLst>
                </a:gridCol>
                <a:gridCol w="4549126">
                  <a:extLst>
                    <a:ext uri="{9D8B030D-6E8A-4147-A177-3AD203B41FA5}">
                      <a16:colId xmlns:a16="http://schemas.microsoft.com/office/drawing/2014/main" val="270281608"/>
                    </a:ext>
                  </a:extLst>
                </a:gridCol>
              </a:tblGrid>
              <a:tr h="316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Aspect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RetailIQ – Innovation / Novelty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1690404698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Integrated Analytics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Combines sales, customer, product, and country-wise analysis in one solution.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4103404752"/>
                  </a:ext>
                </a:extLst>
              </a:tr>
              <a:tr h="7911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Customer Segmentation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Uses RFM analysis to group customers into meaningful segments such as Champions, Loyal, At Risk, and Lost.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3754879351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Revenue Forecasting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Uses historical monthly revenue patterns to estimate future revenue trends.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3893045599"/>
                  </a:ext>
                </a:extLst>
              </a:tr>
              <a:tr h="7911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Interactive Dashboard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Presents KPIs, analysis, customer segments, and forecasts through an interactive Streamlit dashboard.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1721908959"/>
                  </a:ext>
                </a:extLst>
              </a:tr>
              <a:tr h="7911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End-to-End Approach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Provides a complete flow from data cleaning → analysis → segmentation → forecasting → visualization.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1310273963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Business Decision Support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Converts raw e-commerce transaction data into actionable insights for better decision-making.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24561722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21509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1A728-E21F-377F-E955-7FFA805F7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B180650-C6B4-FA7C-8E3C-956D8C398A39}"/>
              </a:ext>
            </a:extLst>
          </p:cNvPr>
          <p:cNvSpPr txBox="1"/>
          <p:nvPr/>
        </p:nvSpPr>
        <p:spPr>
          <a:xfrm>
            <a:off x="2549981" y="527277"/>
            <a:ext cx="79677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/>
              <a:t>PROJECT PLAN </a:t>
            </a:r>
            <a:endParaRPr lang="en-US" sz="3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BDB173-06F5-2273-101D-166E8433C6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144033-F67F-E431-040B-41E17D9953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593" y="551058"/>
            <a:ext cx="10341928" cy="582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791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A44E5-0129-F984-71CB-8FC8676E4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6A19029-CC5F-70BA-6AF9-906C75B1F89D}"/>
              </a:ext>
            </a:extLst>
          </p:cNvPr>
          <p:cNvSpPr txBox="1"/>
          <p:nvPr/>
        </p:nvSpPr>
        <p:spPr>
          <a:xfrm>
            <a:off x="2513405" y="551058"/>
            <a:ext cx="79677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/>
              <a:t>CONCLUSION</a:t>
            </a:r>
            <a:endParaRPr lang="en-US" sz="3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0A700B-FB54-95CB-3524-AD58C05453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DADC9A-F9C0-2B6B-385D-C934D1B41F7F}"/>
              </a:ext>
            </a:extLst>
          </p:cNvPr>
          <p:cNvSpPr txBox="1"/>
          <p:nvPr/>
        </p:nvSpPr>
        <p:spPr>
          <a:xfrm>
            <a:off x="898865" y="1945879"/>
            <a:ext cx="1039427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Retail IQ transforms raw e-commerce transaction data into meaningful business insights.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The project combines data preprocessing, feature engineering, EDA, RFM analysis, customer segmentation, and revenue forecasting.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Customer segmentation helps understand different customer purchasing </a:t>
            </a:r>
            <a:r>
              <a:rPr lang="en-IN" sz="2000" dirty="0" err="1"/>
              <a:t>behavior’s</a:t>
            </a:r>
            <a:r>
              <a:rPr lang="en-IN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Revenue forecasting provides an estimate of future monthly revenue.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The Stream lit dashboard presents KPIs, sales trends, product performance, country performance, customer segments, and forecasts in an interactive format.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Overall, Retail IQ provides an end-to-end e-commerce analytics solution to support data-driven business decisions.</a:t>
            </a:r>
          </a:p>
        </p:txBody>
      </p:sp>
    </p:spTree>
    <p:extLst>
      <p:ext uri="{BB962C8B-B14F-4D97-AF65-F5344CB8AC3E}">
        <p14:creationId xmlns:p14="http://schemas.microsoft.com/office/powerpoint/2010/main" val="15406287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ACF76-3B70-9E4B-676C-3A86FAB32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7915" y="2826057"/>
            <a:ext cx="2789903" cy="71109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3600" i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260224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1015</Words>
  <Application>Microsoft Office PowerPoint</Application>
  <PresentationFormat>Widescreen</PresentationFormat>
  <Paragraphs>168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Haswanthi Madala</cp:lastModifiedBy>
  <cp:revision>35</cp:revision>
  <dcterms:created xsi:type="dcterms:W3CDTF">2026-08-08T06:33:56Z</dcterms:created>
  <dcterms:modified xsi:type="dcterms:W3CDTF">2026-09-24T05:44:18Z</dcterms:modified>
</cp:coreProperties>
</file>